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548640"/>
            <a:ext cx="4114800" cy="4114800"/>
          </a:xfrm>
          <a:prstGeom prst="ellipse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37160"/>
            <a:ext cx="2743200" cy="2743200"/>
          </a:xfrm>
          <a:prstGeom prst="ellipse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21240" y="685800"/>
            <a:ext cx="1645920" cy="1645920"/>
          </a:xfrm>
          <a:prstGeom prst="ellipse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14432" y="1078992"/>
            <a:ext cx="859536" cy="859536"/>
          </a:xfrm>
          <a:prstGeom prst="ellipse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32DCDC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8638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400" b="1">
                <a:solidFill>
                  <a:srgbClr val="F4F7FC"/>
                </a:solidFill>
                <a:latin typeface="Aptos"/>
              </a:defRPr>
            </a:pPr>
            <a:r>
              <a:t>PLAYER PERFORMANCE</a:t>
            </a:r>
            <a:br/>
            <a: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71800"/>
            <a:ext cx="67665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100" b="0">
                <a:solidFill>
                  <a:srgbClr val="AEBACD"/>
                </a:solidFill>
                <a:latin typeface="Aptos"/>
              </a:defRPr>
            </a:pPr>
            <a:r>
              <a:t>Using XGBoost and Gradient Boosting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03320"/>
            <a:ext cx="914400" cy="50292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05072"/>
            <a:ext cx="5303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Varun Teja Reddy  |  2520090221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70832"/>
            <a:ext cx="5303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7FC"/>
                </a:solidFill>
                <a:latin typeface="Aptos"/>
              </a:defRPr>
            </a:pPr>
            <a:r>
              <a:t>Akhil Yadav  |  2520090155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19472"/>
            <a:ext cx="5303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Guide: Ms. K. Chandusha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21808"/>
            <a:ext cx="8046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Department of Computer Science and Information Technology (CSIT)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25312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32DCDC"/>
                </a:solidFill>
                <a:latin typeface="Aptos"/>
              </a:defRPr>
            </a:pPr>
            <a:r>
              <a:t>B.Tech  •  Academic Year 2026–27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96128"/>
            <a:ext cx="6949440" cy="256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100" b="0">
                <a:solidFill>
                  <a:srgbClr val="AEBACD"/>
                </a:solidFill>
                <a:latin typeface="Aptos"/>
              </a:defRPr>
            </a:pPr>
            <a:r>
              <a:t>College/University: [Add your 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49224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000" b="0">
                <a:solidFill>
                  <a:srgbClr val="F4F7FC"/>
                </a:solidFill>
                <a:latin typeface="Aptos"/>
              </a:defRPr>
            </a:pPr>
            <a:r>
              <a:t>Sports analytics uses data to understand performance and support better decisions. Machine learning can find patterns across many player statistics that are difficult to evaluate consistently by observation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27632"/>
            <a:ext cx="3611880" cy="11430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627632"/>
            <a:ext cx="54864" cy="114300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7848" y="1792224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32DCDC"/>
                </a:solidFill>
                <a:latin typeface="Aptos"/>
              </a:defRPr>
            </a:pPr>
            <a:r>
              <a:t>DATA-DRIVEN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267712"/>
            <a:ext cx="322783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Analyze historical player statistics.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971800"/>
            <a:ext cx="3611880" cy="11430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26679" y="2971800"/>
            <a:ext cx="54864" cy="1143000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3136392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4C84FF"/>
                </a:solidFill>
                <a:latin typeface="Aptos"/>
              </a:defRPr>
            </a:pPr>
            <a:r>
              <a:t>PREDICTIVE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611880"/>
            <a:ext cx="322783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Estimate performance from learned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315968"/>
            <a:ext cx="3611880" cy="11430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4315968"/>
            <a:ext cx="54864" cy="1143000"/>
          </a:xfrm>
          <a:prstGeom prst="rect">
            <a:avLst/>
          </a:prstGeom>
          <a:solidFill>
            <a:srgbClr val="FFA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4480559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AB4A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4956048"/>
            <a:ext cx="3227832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Support selection, training and match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03320"/>
            <a:ext cx="63093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32DCDC"/>
                </a:solidFill>
                <a:latin typeface="Aptos"/>
              </a:defRPr>
            </a:pPr>
            <a:r>
              <a:t>Project focus: compare Gradient Boosting and XGBoost for player performance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828800"/>
          </a:xfrm>
          <a:prstGeom prst="rect">
            <a:avLst/>
          </a:prstGeom>
          <a:solidFill>
            <a:srgbClr val="FFA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AB4A"/>
                </a:solidFill>
                <a:latin typeface="Aptos"/>
              </a:defRPr>
            </a:pPr>
            <a:r>
              <a:t>CURRENT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04495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Player evaluation often depends on expert judgment and historical statistics considered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54864" cy="1828800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4C84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04495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Complex relationships among batting, bowling and fielding indicators may be missed.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54864" cy="182880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32DCDC"/>
                </a:solidFill>
                <a:latin typeface="Aptos"/>
              </a:defRPr>
            </a:pPr>
            <a:r>
              <a:t>WHO IS AFFECTED?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044952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F4F7FC"/>
                </a:solidFill>
                <a:latin typeface="Aptos"/>
              </a:defRPr>
            </a:pPr>
            <a:r>
              <a:t>Coaches, selectors, analysts and team management need consistent evidence for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4241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100" b="1">
                <a:solidFill>
                  <a:srgbClr val="F4F7FC"/>
                </a:solidFill>
                <a:latin typeface="Aptos"/>
              </a:defRPr>
            </a:pPr>
            <a:r>
              <a:t>Need: a systematic model that learns from multiple performance indicators and produces data-driven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PROJECT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6583680" cy="34747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Make player evaluation more consistent and evidence-based.</a:t>
            </a:r>
          </a:p>
          <a:p>
            <a:pPr>
              <a:spcAft>
                <a:spcPts val="14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Support team selection, player development and training strategy.</a:t>
            </a:r>
          </a:p>
          <a:p>
            <a:pPr>
              <a:spcAft>
                <a:spcPts val="14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Compare two ensemble learning algorithms on the same workflow.</a:t>
            </a:r>
          </a:p>
          <a:p>
            <a:pPr>
              <a:spcAft>
                <a:spcPts val="14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Explore a scalable approach that can be adapted to several sports.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74519"/>
            <a:ext cx="2560320" cy="2560320"/>
          </a:xfrm>
          <a:prstGeom prst="roundRect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85632" y="23317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900" b="1">
                <a:solidFill>
                  <a:srgbClr val="AEBACD"/>
                </a:solidFill>
                <a:latin typeface="Aptos"/>
              </a:defRPr>
            </a:pPr>
            <a:r>
              <a:t>FROM</a:t>
            </a:r>
            <a:br/>
            <a:r>
              <a:t>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3429000"/>
            <a:ext cx="20574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32DCDC"/>
                </a:solidFill>
                <a:latin typeface="Aptos"/>
              </a:defRPr>
            </a:pPr>
            <a:r>
              <a:t>TO</a:t>
            </a:r>
            <a:br/>
            <a:r>
              <a:t>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572768"/>
            <a:ext cx="502920" cy="502920"/>
          </a:xfrm>
          <a:prstGeom prst="ellipse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82495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32DC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72768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Prepare historical player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572768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AEBACD"/>
                </a:solidFill>
                <a:latin typeface="Aptos"/>
              </a:defRPr>
            </a:pPr>
            <a:r>
              <a:t>Clean and transform relevant statistics.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432304"/>
            <a:ext cx="502920" cy="502920"/>
          </a:xfrm>
          <a:prstGeom prst="ellipse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42032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32DC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32304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Train two ML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32304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AEBACD"/>
                </a:solidFill>
                <a:latin typeface="Aptos"/>
              </a:defRPr>
            </a:pPr>
            <a:r>
              <a:t>Build Gradient Boosting and XGBoost models.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91839"/>
            <a:ext cx="502920" cy="502920"/>
          </a:xfrm>
          <a:prstGeom prst="ellipse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0156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32DC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91839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Predict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91839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AEBACD"/>
                </a:solidFill>
                <a:latin typeface="Aptos"/>
              </a:defRPr>
            </a:pPr>
            <a:r>
              <a:t>Use learned patterns to estimate player outcomes.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151376"/>
            <a:ext cx="502920" cy="502920"/>
          </a:xfrm>
          <a:prstGeom prst="ellipse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61104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32DC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51376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Evaluate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51376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AEBACD"/>
                </a:solidFill>
                <a:latin typeface="Aptos"/>
              </a:defRPr>
            </a:pPr>
            <a:r>
              <a:t>Compare using suitable classification or regression metrics.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010912"/>
            <a:ext cx="502920" cy="502920"/>
          </a:xfrm>
          <a:prstGeom prst="ellipse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32DC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10912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Support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10912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AEBACD"/>
                </a:solidFill>
                <a:latin typeface="Aptos"/>
              </a:defRPr>
            </a:pPr>
            <a:r>
              <a:t>Present predictions as useful sports analytics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Existing System vs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4983480" cy="3520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54864" cy="3520440"/>
          </a:xfrm>
          <a:prstGeom prst="rect">
            <a:avLst/>
          </a:prstGeom>
          <a:solidFill>
            <a:srgbClr val="FFA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4617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FFAB4A"/>
                </a:solidFill>
                <a:latin typeface="Aptos"/>
              </a:defRPr>
            </a:pPr>
            <a:r>
              <a:t>EXISTING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599432" cy="2770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• Expert judgment</a:t>
            </a:r>
            <a:br/>
            <a:br/>
            <a:r>
              <a:t>• Review of historical statistics</a:t>
            </a:r>
            <a:br/>
            <a:br/>
            <a:r>
              <a:t>• May miss interactions between multiple indicators</a:t>
            </a:r>
            <a:br/>
            <a:br/>
            <a:r>
              <a:t>• Limited ability to produce repeatable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4983480" cy="3520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4864" cy="352044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10512"/>
            <a:ext cx="4617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32DCDC"/>
                </a:solidFill>
                <a:latin typeface="Aptos"/>
              </a:defRPr>
            </a:pPr>
            <a:r>
              <a:t>PROPOSED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86000"/>
            <a:ext cx="4599432" cy="2770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• Structured historical player dataset</a:t>
            </a:r>
            <a:br/>
            <a:br/>
            <a:r>
              <a:t>• Data cleaning and feature preparation</a:t>
            </a:r>
            <a:br/>
            <a:br/>
            <a:r>
              <a:t>• Train Gradient Boosting and XGBoost</a:t>
            </a:r>
            <a:br/>
            <a:br/>
            <a:r>
              <a:t>• Evaluate models and compare 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AEBACD"/>
                </a:solidFill>
                <a:latin typeface="Aptos"/>
              </a:defRPr>
            </a:pPr>
            <a:r>
              <a:t>The proposed system complements human expertise; it is intended to support decisions, not replace coaches.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084831" cy="15087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2084831" cy="73152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587752"/>
            <a:ext cx="18653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4C84FF"/>
                </a:solidFill>
                <a:latin typeface="Aptos"/>
              </a:defRPr>
            </a:pPr>
            <a:r>
              <a:t>INPUT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26663"/>
            <a:ext cx="186537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F4F7FC"/>
                </a:solidFill>
                <a:latin typeface="Aptos"/>
              </a:defRPr>
            </a:pPr>
            <a:r>
              <a:t>Player statistics</a:t>
            </a:r>
            <a:br/>
            <a:r>
              <a:t>CSV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1468" y="2880360"/>
            <a:ext cx="2651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AEB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59" y="2331720"/>
            <a:ext cx="2084831" cy="15087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59" y="2331720"/>
            <a:ext cx="2084831" cy="73152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7" y="2587752"/>
            <a:ext cx="18653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32DCDC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7" y="3026663"/>
            <a:ext cx="186537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F4F7FC"/>
                </a:solidFill>
                <a:latin typeface="Aptos"/>
              </a:defRPr>
            </a:pPr>
            <a:r>
              <a:t>Clean, encode,</a:t>
            </a:r>
            <a:br/>
            <a:r>
              <a:t>select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8907" y="2880360"/>
            <a:ext cx="2651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AEB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799" y="2331720"/>
            <a:ext cx="2084831" cy="15087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799" y="2331720"/>
            <a:ext cx="2084831" cy="73152"/>
          </a:xfrm>
          <a:prstGeom prst="rect">
            <a:avLst/>
          </a:prstGeom>
          <a:solidFill>
            <a:srgbClr val="AA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7" y="2587752"/>
            <a:ext cx="18653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AA82FF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3026663"/>
            <a:ext cx="186537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F4F7FC"/>
                </a:solidFill>
                <a:latin typeface="Aptos"/>
              </a:defRPr>
            </a:pPr>
            <a:r>
              <a:t>Gradient Boosting</a:t>
            </a:r>
            <a:br/>
            <a:r>
              <a:t>and 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6348" y="2880360"/>
            <a:ext cx="2651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AEB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331720"/>
            <a:ext cx="2084831" cy="15087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331720"/>
            <a:ext cx="2084831" cy="73152"/>
          </a:xfrm>
          <a:prstGeom prst="rect">
            <a:avLst/>
          </a:prstGeom>
          <a:solidFill>
            <a:srgbClr val="FFA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7" y="2587752"/>
            <a:ext cx="18653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AB4A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3026663"/>
            <a:ext cx="186537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F4F7FC"/>
                </a:solidFill>
                <a:latin typeface="Aptos"/>
              </a:defRPr>
            </a:pPr>
            <a:r>
              <a:t>Test set + metrics</a:t>
            </a:r>
            <a:br/>
            <a:r>
              <a:t>compare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3788" y="2880360"/>
            <a:ext cx="26517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AEBA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331720"/>
            <a:ext cx="2084831" cy="15087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12680" y="2331720"/>
            <a:ext cx="2084831" cy="73152"/>
          </a:xfrm>
          <a:prstGeom prst="rect">
            <a:avLst/>
          </a:prstGeom>
          <a:solidFill>
            <a:srgbClr val="54D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22407" y="2587752"/>
            <a:ext cx="186537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54DC9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22407" y="3026663"/>
            <a:ext cx="186537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F4F7FC"/>
                </a:solidFill>
                <a:latin typeface="Aptos"/>
              </a:defRPr>
            </a:pPr>
            <a:r>
              <a:t>Predicted performance</a:t>
            </a:r>
            <a:br/>
            <a:r>
              <a:t>and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6177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0">
                <a:solidFill>
                  <a:srgbClr val="AEBACD"/>
                </a:solidFill>
                <a:latin typeface="Aptos"/>
              </a:defRPr>
            </a:pPr>
            <a:r>
              <a:t>Historical statistics  →  prepared features  →  trained models  →  measured performance  → 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23160" cy="1234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1051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80136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21992"/>
            <a:ext cx="212140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Historical player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91640"/>
            <a:ext cx="2423160" cy="1234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181051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180136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2221992"/>
            <a:ext cx="212140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Handle missing values and clean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2423160" cy="1234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81051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180136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221992"/>
            <a:ext cx="212140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Select and transform useful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91640"/>
            <a:ext cx="2423160" cy="1234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181051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180136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744" y="2221992"/>
            <a:ext cx="212140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Create training and testing 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2423160" cy="1234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63931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363016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050791"/>
            <a:ext cx="212140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Fit both boosting algorithms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520440"/>
            <a:ext cx="2423160" cy="1234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63931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363016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2464" y="4050791"/>
            <a:ext cx="212140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Compare suitable evaluation 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520440"/>
            <a:ext cx="2423160" cy="123444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3639312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3630168"/>
            <a:ext cx="1737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7FC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050791"/>
            <a:ext cx="212140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Generate performance estimates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1">
                <a:solidFill>
                  <a:srgbClr val="32DCDC"/>
                </a:solidFill>
                <a:latin typeface="Aptos"/>
              </a:defRPr>
            </a:pPr>
            <a:r>
              <a:t>The same prepared dataset and evaluation process should be used for a fair model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Dataset and Input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6070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AEBACD"/>
                </a:solidFill>
                <a:latin typeface="Aptos"/>
              </a:defRPr>
            </a:pPr>
            <a:r>
              <a:t>The abstract describes historical player performance data. The exact dataset name and number of records are not specified in the supplied document.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3429000" cy="2331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4864" cy="233172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67919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32DCDC"/>
                </a:solidFill>
                <a:latin typeface="Aptos"/>
              </a:defRPr>
            </a:pPr>
            <a:r>
              <a:t>BATTING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54680"/>
            <a:ext cx="3044952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Matches played</a:t>
            </a:r>
            <a:br/>
            <a:r>
              <a:t>Innings</a:t>
            </a:r>
            <a:br/>
            <a:r>
              <a:t>Runs scored</a:t>
            </a:r>
            <a:br/>
            <a:r>
              <a:t>Batting average</a:t>
            </a:r>
            <a:br/>
            <a:r>
              <a:t>Strike rate</a:t>
            </a:r>
            <a:br/>
            <a:r>
              <a:t>Centuries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3429000" cy="2331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514600"/>
            <a:ext cx="54864" cy="2331720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67919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4C84FF"/>
                </a:solidFill>
                <a:latin typeface="Aptos"/>
              </a:defRPr>
            </a:pPr>
            <a:r>
              <a:t>BOWLING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154680"/>
            <a:ext cx="3044952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Wickets taken</a:t>
            </a:r>
            <a:br/>
            <a:r>
              <a:t>Bowling average</a:t>
            </a:r>
            <a:br/>
            <a:r>
              <a:t>Economy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2514600"/>
            <a:ext cx="3429000" cy="2331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2514600"/>
            <a:ext cx="54864" cy="2331720"/>
          </a:xfrm>
          <a:prstGeom prst="rect">
            <a:avLst/>
          </a:prstGeom>
          <a:solidFill>
            <a:srgbClr val="FFA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267919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FAB4A"/>
                </a:solidFill>
                <a:latin typeface="Aptos"/>
              </a:defRPr>
            </a:pPr>
            <a:r>
              <a:t>FIELDING &amp;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154680"/>
            <a:ext cx="3044952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Catches</a:t>
            </a:r>
            <a:br/>
            <a:r>
              <a:t>Other relevant performance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4241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0">
                <a:solidFill>
                  <a:srgbClr val="F4F7FC"/>
                </a:solidFill>
                <a:latin typeface="Aptos"/>
              </a:defRPr>
            </a:pPr>
            <a:r>
              <a:t>Input format: CSV (.csv)  •  Data preparation: cleaning, missing-value handling, feature selection, normalization and categorical encoding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Algorithms /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37760" cy="32461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" cy="3246120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56232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4C84FF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455371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• Builds decision-tree models sequentially</a:t>
            </a:r>
            <a:br/>
            <a:br/>
            <a:r>
              <a:t>• Each stage focuses on reducing prediction errors</a:t>
            </a:r>
            <a:br/>
            <a:br/>
            <a:r>
              <a:t>• Used as the baseline model for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4937760" cy="32461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4864" cy="324612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56232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32DCDC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31720"/>
            <a:ext cx="4553712" cy="2496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• Optimized gradient-boosting implementation</a:t>
            </a:r>
            <a:br/>
            <a:br/>
            <a:r>
              <a:t>• Includes regularization to help reduce overfitting</a:t>
            </a:r>
            <a:br/>
            <a:br/>
            <a:r>
              <a:t>• Supports efficient computation and missing-value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AEBACD"/>
                </a:solidFill>
                <a:latin typeface="Aptos"/>
              </a:defRPr>
            </a:pPr>
            <a:r>
              <a:t>Both models are trained on the training set and assessed on held-out test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TOOLS AND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29000" cy="16002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54864" cy="160020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30449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Python 3.10+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3429000" cy="16002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91640"/>
            <a:ext cx="54864" cy="1600200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85623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4C84FF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31720"/>
            <a:ext cx="30449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Scikit-learn</a:t>
            </a:r>
            <a:br/>
            <a:r>
              <a:t>XGBoost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91640"/>
            <a:ext cx="3429000" cy="16002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1691640"/>
            <a:ext cx="54864" cy="1600200"/>
          </a:xfrm>
          <a:prstGeom prst="rect">
            <a:avLst/>
          </a:prstGeom>
          <a:solidFill>
            <a:srgbClr val="AA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85623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AA82FF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331720"/>
            <a:ext cx="30449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Pandas</a:t>
            </a:r>
            <a:br/>
            <a:r>
              <a:t>NumPy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3429000" cy="16002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703320"/>
            <a:ext cx="54864" cy="1600200"/>
          </a:xfrm>
          <a:prstGeom prst="rect">
            <a:avLst/>
          </a:prstGeom>
          <a:solidFill>
            <a:srgbClr val="FFA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38679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AB4A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343400"/>
            <a:ext cx="30449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Matplotlib</a:t>
            </a:r>
            <a:br/>
            <a:r>
              <a:t>Seaborn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703320"/>
            <a:ext cx="3429000" cy="16002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703320"/>
            <a:ext cx="54864" cy="1600200"/>
          </a:xfrm>
          <a:prstGeom prst="rect">
            <a:avLst/>
          </a:prstGeom>
          <a:solidFill>
            <a:srgbClr val="54D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38679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54DC9B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343400"/>
            <a:ext cx="30449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Jupyter Notebook</a:t>
            </a:r>
            <a:br/>
            <a:r>
              <a:t>VS Code / PyCharm / Colab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703320"/>
            <a:ext cx="3429000" cy="160020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703320"/>
            <a:ext cx="54864" cy="160020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3867912"/>
            <a:ext cx="30632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32DCDC"/>
                </a:solidFill>
                <a:latin typeface="Aptos"/>
              </a:defRPr>
            </a:pPr>
            <a:r>
              <a:t>DATA &amp; VERSIONING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343400"/>
            <a:ext cx="30449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CSV dataset</a:t>
            </a:r>
            <a:br/>
            <a:r>
              <a:t>Git / GitHub (optional)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607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EBACD"/>
                </a:solidFill>
                <a:latin typeface="Aptos"/>
              </a:defRPr>
            </a:pPr>
            <a:r>
              <a:t>Environment: Windows 10/11, Ubuntu Linux or macOS. Suggested hardware: Intel Core i3 or above, 4 GB RAM (8 GB recommended), 10 GB free disk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Model Evaluation and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48463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1">
                <a:solidFill>
                  <a:srgbClr val="32DCDC"/>
                </a:solidFill>
                <a:latin typeface="Aptos"/>
              </a:defRPr>
            </a:pPr>
            <a:r>
              <a:t>Metrics listed in the abstract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120640" cy="512064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67128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7FC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67128"/>
            <a:ext cx="2971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EBACD"/>
                </a:solidFill>
                <a:latin typeface="Aptos"/>
              </a:defRPr>
            </a:pPr>
            <a:r>
              <a:t>Overall correct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15768"/>
            <a:ext cx="5120640" cy="512064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25496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7FC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25496"/>
            <a:ext cx="2971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EBACD"/>
                </a:solidFill>
                <a:latin typeface="Aptos"/>
              </a:defRPr>
            </a:pPr>
            <a:r>
              <a:t>Reliability of positive predictions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74136"/>
            <a:ext cx="5120640" cy="512064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83864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7FC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83864"/>
            <a:ext cx="2971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EBACD"/>
                </a:solidFill>
                <a:latin typeface="Aptos"/>
              </a:defRPr>
            </a:pPr>
            <a:r>
              <a:t>Coverage of actual positive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32504"/>
            <a:ext cx="5120640" cy="512064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142232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7FC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42232"/>
            <a:ext cx="2971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EBACD"/>
                </a:solidFill>
                <a:latin typeface="Aptos"/>
              </a:defRPr>
            </a:pPr>
            <a:r>
              <a:t>Balance of precision and recall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90872"/>
            <a:ext cx="5120640" cy="512064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00600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7FC"/>
                </a:solidFill>
                <a:latin typeface="Aptos"/>
              </a:defRPr>
            </a:pPr>
            <a:r>
              <a:t>MAE / MSE / RMSE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00600"/>
            <a:ext cx="2971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EBACD"/>
                </a:solidFill>
                <a:latin typeface="Aptos"/>
              </a:defRPr>
            </a:pPr>
            <a:r>
              <a:t>Regression prediction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691640"/>
            <a:ext cx="4526280" cy="35661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1965960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700" b="1">
                <a:solidFill>
                  <a:srgbClr val="32DCDC"/>
                </a:solidFill>
                <a:latin typeface="Aptos"/>
              </a:defRPr>
            </a:pPr>
            <a:r>
              <a:t>RESULT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560320"/>
            <a:ext cx="3794760" cy="1828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0">
                <a:solidFill>
                  <a:srgbClr val="F4F7FC"/>
                </a:solidFill>
                <a:latin typeface="Aptos"/>
              </a:defRPr>
            </a:pPr>
            <a:r>
              <a:t>The supplied abstract reports that XGBoost generally performs better than traditional Gradient Boosting in accuracy, execution efficiency, missing-value handling and overfitting control.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AB4A"/>
                </a:solidFill>
                <a:latin typeface="Aptos"/>
              </a:defRPr>
            </a:pPr>
            <a:r>
              <a:t>No numeric scores or graphs were included in the abstract, so measured values should be added after running the experiment.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IMPLEMENTATION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System Modules /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469880" cy="658368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64792"/>
            <a:ext cx="502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46504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5564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Load player records from CSV.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41448"/>
            <a:ext cx="10469880" cy="658368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06040"/>
            <a:ext cx="502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587752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96896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Clean values and prepare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82696"/>
            <a:ext cx="10469880" cy="658368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447288"/>
            <a:ext cx="502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42900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38144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Train Gradient Boosting and XGBoost.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23944"/>
            <a:ext cx="10469880" cy="658368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288536"/>
            <a:ext cx="502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27024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279392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Estimate performance from input features.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65192"/>
            <a:ext cx="10469880" cy="658368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129783"/>
            <a:ext cx="5029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11149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Evaluation &amp;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12064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Show metrics and compare models.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0">
                <a:solidFill>
                  <a:srgbClr val="FFAB4A"/>
                </a:solidFill>
                <a:latin typeface="Aptos"/>
              </a:defRPr>
            </a:pPr>
            <a:r>
              <a:t>Screenshots of the actual interface and output can be inserted once the implementation is available.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Advantages and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37760" cy="3474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" cy="3474720"/>
          </a:xfrm>
          <a:prstGeom prst="rect">
            <a:avLst/>
          </a:prstGeom>
          <a:solidFill>
            <a:srgbClr val="54D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56232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54DC9B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4553712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• Data-driven and repeatable evaluation</a:t>
            </a:r>
            <a:br/>
            <a:br/>
            <a:r>
              <a:t>• Considers multiple performance indicators</a:t>
            </a:r>
            <a:br/>
            <a:br/>
            <a:r>
              <a:t>• Enables comparison between models</a:t>
            </a:r>
            <a:br/>
            <a:br/>
            <a:r>
              <a:t>• Can help monitor player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4937760" cy="3474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4864" cy="347472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56232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32DCDC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31720"/>
            <a:ext cx="4553712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• Player selection and team composition</a:t>
            </a:r>
            <a:br/>
            <a:br/>
            <a:r>
              <a:t>• Training and player development</a:t>
            </a:r>
            <a:br/>
            <a:br/>
            <a:r>
              <a:t>• Match planning and strategy</a:t>
            </a:r>
            <a:br/>
            <a:br/>
            <a:r>
              <a:t>• Cricket, football, basketball and hockey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500" b="0">
                <a:solidFill>
                  <a:srgbClr val="AEBACD"/>
                </a:solidFill>
                <a:latin typeface="Aptos"/>
              </a:defRPr>
            </a:pPr>
            <a:r>
              <a:t>Target users: coaches, selectors, performance analysts and sports team management.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Limitations and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37760" cy="3474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" cy="3474720"/>
          </a:xfrm>
          <a:prstGeom prst="rect">
            <a:avLst/>
          </a:prstGeom>
          <a:solidFill>
            <a:srgbClr val="FFA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56232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FFAB4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4553712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• Prediction quality depends on dataset quality and coverage</a:t>
            </a:r>
            <a:br/>
            <a:br/>
            <a:r>
              <a:t>• Missing or inconsistent statistics can affect results</a:t>
            </a:r>
            <a:br/>
            <a:br/>
            <a:r>
              <a:t>• Numeric performance metrics depend on the completed experiment</a:t>
            </a:r>
            <a:br/>
            <a:br/>
            <a:r>
              <a:t>• Predictions should be interpreted with domain 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4937760" cy="3474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4864" cy="347472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56232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900" b="1">
                <a:solidFill>
                  <a:srgbClr val="32DCDC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31720"/>
            <a:ext cx="4553712" cy="2724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• Use larger and more recent datasets</a:t>
            </a:r>
            <a:br/>
            <a:br/>
            <a:r>
              <a:t>• Add more player and match-context features</a:t>
            </a:r>
            <a:br/>
            <a:br/>
            <a:r>
              <a:t>• Build an interactive dashboard for coaches</a:t>
            </a:r>
            <a:br/>
            <a:br/>
            <a:r>
              <a:t>• Extend and validate the approach across sports</a:t>
            </a:r>
            <a:br/>
            <a:br/>
            <a:r>
              <a:t>• Deploy the model for regular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32DCD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6868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100" b="1">
                <a:solidFill>
                  <a:srgbClr val="F4F7FC"/>
                </a:solidFill>
                <a:latin typeface="Aptos"/>
              </a:defRPr>
            </a:pPr>
            <a:r>
              <a:t>Turning player statistics</a:t>
            </a:r>
            <a:br/>
            <a:r>
              <a:t>into performance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788920"/>
            <a:ext cx="1051560" cy="50292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7955279" cy="22860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The project applies ensemble machine learning to sports performance prediction.</a:t>
            </a:r>
          </a:p>
          <a:p>
            <a:pPr>
              <a:spcAft>
                <a:spcPts val="10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Gradient Boosting and XGBoost are compared through a shared data-processing and evaluation pipeline.</a:t>
            </a:r>
          </a:p>
          <a:p>
            <a:pPr>
              <a:spcAft>
                <a:spcPts val="10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The abstract identifies XGBoost as a promising model for efficient and reliable prediction.</a:t>
            </a:r>
          </a:p>
          <a:p>
            <a:pPr>
              <a:spcAft>
                <a:spcPts val="10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The system can support evidence-based decisions in player development and team planning.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828800"/>
            <a:ext cx="2148840" cy="2148840"/>
          </a:xfrm>
          <a:prstGeom prst="roundRect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2450592"/>
            <a:ext cx="1783080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400" b="1">
                <a:solidFill>
                  <a:srgbClr val="32DCDC"/>
                </a:solidFill>
                <a:latin typeface="Aptos"/>
              </a:defRPr>
            </a:pPr>
            <a:r>
              <a:t>THANK</a:t>
            </a:r>
            <a:br/>
            <a: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25196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600" b="0">
                <a:solidFill>
                  <a:srgbClr val="AEBACD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72200"/>
            <a:ext cx="8961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EBACD"/>
                </a:solidFill>
                <a:latin typeface="Aptos"/>
              </a:defRPr>
            </a:pPr>
            <a:r>
              <a:t>Varun Teja Reddy  •  Akhil Yadav  |  CSIT  |  A.Y. 2026–27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COMPONENT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29768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000" b="1">
                <a:solidFill>
                  <a:srgbClr val="32DCDC"/>
                </a:solidFill>
                <a:latin typeface="Aptos"/>
              </a:defRPr>
            </a:pPr>
            <a:r>
              <a:t>Current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20116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Aptos"/>
              </a:defRPr>
            </a:pPr>
            <a:r>
              <a:t>• Expert judgment by coaches and selectors</a:t>
            </a:r>
            <a:br/>
            <a:r>
              <a:t>• Reviewing historical player statistics</a:t>
            </a:r>
            <a:br/>
            <a:r>
              <a:t>• Comparing individual performance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484632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000" b="1">
                <a:solidFill>
                  <a:srgbClr val="4C84FF"/>
                </a:solidFill>
                <a:latin typeface="Aptos"/>
              </a:defRPr>
            </a:pPr>
            <a:r>
              <a:t>Existing technologies /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57400"/>
            <a:ext cx="4754880" cy="20116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800" b="0">
                <a:solidFill>
                  <a:srgbClr val="F4F7FC"/>
                </a:solidFill>
                <a:latin typeface="Aptos"/>
              </a:defRPr>
            </a:pPr>
            <a:r>
              <a:t>• Scorecards and statistical records</a:t>
            </a:r>
            <a:br/>
            <a:r>
              <a:t>• Spreadsheet-based analysis</a:t>
            </a:r>
            <a:br/>
            <a:r>
              <a:t>• Manual comparison and interpretation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572000"/>
            <a:ext cx="10332720" cy="8229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773168"/>
            <a:ext cx="987552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500" b="1">
                <a:solidFill>
                  <a:srgbClr val="FFAB4A"/>
                </a:solidFill>
                <a:latin typeface="Aptos"/>
              </a:defRPr>
            </a:pPr>
            <a:r>
              <a:t>Limitations: complex relationships across batting, bowling and fielding statistics may be missed, and manual evaluations may not produce consistent predictions.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COMPONENT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7560" cy="2331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" cy="233172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56232"/>
            <a:ext cx="297180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32DCDC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2953512" cy="161848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Clean the dataset, handle missing values, select features and encode categorical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2331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54864" cy="2331720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56232"/>
            <a:ext cx="297180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4C84FF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13432"/>
            <a:ext cx="2953512" cy="161848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Train Gradient Boosting and XGBoost on the prepared training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337560" cy="23317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54864" cy="2331720"/>
          </a:xfrm>
          <a:prstGeom prst="rect">
            <a:avLst/>
          </a:prstGeom>
          <a:solidFill>
            <a:srgbClr val="54D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297180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54DC9B"/>
                </a:solidFill>
                <a:latin typeface="Aptos"/>
              </a:defRPr>
            </a:pPr>
            <a:r>
              <a:t>PREDICTION &amp;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13432"/>
            <a:ext cx="2953512" cy="161848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Generate predictions and compare model performance with suitable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4114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900" b="1">
                <a:solidFill>
                  <a:srgbClr val="32DCDC"/>
                </a:solidFill>
                <a:latin typeface="Aptos"/>
              </a:defRPr>
            </a:pPr>
            <a:r>
              <a:t>How it addresses 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149840" cy="6858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0">
                <a:solidFill>
                  <a:srgbClr val="F4F7FC"/>
                </a:solidFill>
                <a:latin typeface="Aptos"/>
              </a:defRPr>
            </a:pPr>
            <a:r>
              <a:t>Uses multiple performance indicators together and provides a repeatable, measurable workflow to support—not replace—expert decisions.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COMPONENT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72768"/>
            <a:ext cx="10287000" cy="64008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28216"/>
            <a:ext cx="41148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09928"/>
            <a:ext cx="210312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709928"/>
            <a:ext cx="6949440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Read player records from a CSV file using Pandas.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404872"/>
            <a:ext cx="10287000" cy="64008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560320"/>
            <a:ext cx="41148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42032"/>
            <a:ext cx="210312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542032"/>
            <a:ext cx="6949440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Clean records, handle missing values and transform features.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36976"/>
            <a:ext cx="10287000" cy="64008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392424"/>
            <a:ext cx="41148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74136"/>
            <a:ext cx="210312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Train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374136"/>
            <a:ext cx="6949440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Create training/testing sets and fit both algorithms.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69080"/>
            <a:ext cx="10287000" cy="64008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224528"/>
            <a:ext cx="41148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06240"/>
            <a:ext cx="210312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06240"/>
            <a:ext cx="6949440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Calculate metrics appropriate to the prediction task.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10287000" cy="64008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056632"/>
            <a:ext cx="41148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300" b="1">
                <a:solidFill>
                  <a:srgbClr val="32DC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38344"/>
            <a:ext cx="210312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1">
                <a:solidFill>
                  <a:srgbClr val="F4F7FC"/>
                </a:solidFill>
                <a:latin typeface="Aptos"/>
              </a:defRPr>
            </a:pPr>
            <a:r>
              <a:t>Present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038344"/>
            <a:ext cx="6949440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400" b="0">
                <a:solidFill>
                  <a:srgbClr val="AEBACD"/>
                </a:solidFill>
                <a:latin typeface="Aptos"/>
              </a:defRPr>
            </a:pPr>
            <a:r>
              <a:t>Compare model results and display predictions.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42416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200" b="1">
                <a:solidFill>
                  <a:srgbClr val="FFAB4A"/>
                </a:solidFill>
                <a:latin typeface="Aptos"/>
              </a:defRPr>
            </a:pPr>
            <a:r>
              <a:t>Code/output screenshots should be added after the implementation is run; they were not included in the abstract.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COMPONENT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Screenshots /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24231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2011680"/>
            <a:ext cx="2185416" cy="1234440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95728"/>
            <a:ext cx="2011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200" b="1">
                <a:solidFill>
                  <a:srgbClr val="AEBACD"/>
                </a:solidFill>
                <a:latin typeface="Aptos"/>
              </a:defRPr>
            </a:pPr>
            <a:r>
              <a:t>SCREENSHOT</a:t>
            </a:r>
            <a:br/>
            <a:r>
              <a:t>PLACEHOLDER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74720"/>
            <a:ext cx="219456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300" b="1">
                <a:solidFill>
                  <a:srgbClr val="32DCDC"/>
                </a:solidFill>
                <a:latin typeface="Aptos"/>
              </a:defRPr>
            </a:pPr>
            <a:r>
              <a:t>HOME /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21488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100" b="0">
                <a:solidFill>
                  <a:srgbClr val="F4F7FC"/>
                </a:solidFill>
                <a:latin typeface="Aptos"/>
              </a:defRPr>
            </a:pPr>
            <a:r>
              <a:t>Project title and a short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828800"/>
            <a:ext cx="2514600" cy="24231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76472" y="2011680"/>
            <a:ext cx="2185416" cy="1234440"/>
          </a:xfrm>
          <a:prstGeom prst="rect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2395728"/>
            <a:ext cx="2011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200" b="1">
                <a:solidFill>
                  <a:srgbClr val="AEBACD"/>
                </a:solidFill>
                <a:latin typeface="Aptos"/>
              </a:defRPr>
            </a:pPr>
            <a:r>
              <a:t>SCREENSHOT</a:t>
            </a:r>
            <a:br/>
            <a:r>
              <a:t>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474720"/>
            <a:ext cx="219456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300" b="1">
                <a:solidFill>
                  <a:srgbClr val="4C84FF"/>
                </a:solidFill>
                <a:latin typeface="Aptos"/>
              </a:defRPr>
            </a:pPr>
            <a:r>
              <a:t>INPUT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822191"/>
            <a:ext cx="21488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100" b="0">
                <a:solidFill>
                  <a:srgbClr val="F4F7FC"/>
                </a:solidFill>
                <a:latin typeface="Aptos"/>
              </a:defRPr>
            </a:pPr>
            <a:r>
              <a:t>Player statistics entered or selected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828800"/>
            <a:ext cx="2514600" cy="24231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56831" y="2011680"/>
            <a:ext cx="2185416" cy="1234440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2395728"/>
            <a:ext cx="2011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200" b="1">
                <a:solidFill>
                  <a:srgbClr val="AEBACD"/>
                </a:solidFill>
                <a:latin typeface="Aptos"/>
              </a:defRPr>
            </a:pPr>
            <a:r>
              <a:t>SCREENSHOT</a:t>
            </a:r>
            <a:br/>
            <a:r>
              <a:t>PLACEHOLDER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3474720"/>
            <a:ext cx="219456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300" b="1">
                <a:solidFill>
                  <a:srgbClr val="AA82FF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22191"/>
            <a:ext cx="21488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100" b="0">
                <a:solidFill>
                  <a:srgbClr val="F4F7FC"/>
                </a:solidFill>
                <a:latin typeface="Aptos"/>
              </a:defRPr>
            </a:pPr>
            <a:r>
              <a:t>Data preprocessing and model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828800"/>
            <a:ext cx="2514600" cy="242316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37192" y="2011680"/>
            <a:ext cx="2185416" cy="1234440"/>
          </a:xfrm>
          <a:prstGeom prst="rect">
            <a:avLst/>
          </a:prstGeom>
          <a:solidFill>
            <a:srgbClr val="1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2395728"/>
            <a:ext cx="2011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200" b="1">
                <a:solidFill>
                  <a:srgbClr val="AEBACD"/>
                </a:solidFill>
                <a:latin typeface="Aptos"/>
              </a:defRPr>
            </a:pPr>
            <a:r>
              <a:t>SCREENSHOT</a:t>
            </a:r>
            <a:br/>
            <a:r>
              <a:t>PLACEHOLDER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3474720"/>
            <a:ext cx="219456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300" b="1">
                <a:solidFill>
                  <a:srgbClr val="54DC9B"/>
                </a:solidFill>
                <a:latin typeface="Aptos"/>
              </a:defRPr>
            </a:pPr>
            <a:r>
              <a:t>OUTPUT /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822191"/>
            <a:ext cx="214884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100" b="0">
                <a:solidFill>
                  <a:srgbClr val="F4F7FC"/>
                </a:solidFill>
                <a:latin typeface="Aptos"/>
              </a:defRPr>
            </a:pPr>
            <a:r>
              <a:t>Predicted performance and model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33272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500" b="1">
                <a:solidFill>
                  <a:srgbClr val="FFAB4A"/>
                </a:solidFill>
                <a:latin typeface="Aptos"/>
              </a:defRPr>
            </a:pPr>
            <a:r>
              <a:t>Replace the placeholders with actual screenshots from your running project.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45720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000" b="1">
                <a:solidFill>
                  <a:srgbClr val="32DCDC"/>
                </a:solidFill>
                <a:latin typeface="Aptos"/>
              </a:defRPr>
            </a:pPr>
            <a:r>
              <a:t>COMPONENT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800" b="1">
                <a:solidFill>
                  <a:srgbClr val="F4F7FC"/>
                </a:solidFill>
                <a:latin typeface="Aptos"/>
              </a:defRPr>
            </a:pPr>
            <a:r>
              <a:t>Model Architecture and Key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051560" cy="41148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defRPr sz="1000" b="1">
                <a:solidFill>
                  <a:srgbClr val="AEBAC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37760" cy="32461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4864" cy="3246120"/>
          </a:xfrm>
          <a:prstGeom prst="rect">
            <a:avLst/>
          </a:prstGeom>
          <a:solidFill>
            <a:srgbClr val="4C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856232"/>
            <a:ext cx="457200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4C84FF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4553712" cy="253288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Architecture: sequential decision trees; each stage attempts to reduce previous prediction errors.</a:t>
            </a:r>
            <a:br/>
            <a:br/>
            <a:r>
              <a:t>Parameters to document: number of estimators, learning rate, tree depth and loss function.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4937760" cy="3246120"/>
          </a:xfrm>
          <a:prstGeom prst="round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91640"/>
            <a:ext cx="54864" cy="3246120"/>
          </a:xfrm>
          <a:prstGeom prst="rect">
            <a:avLst/>
          </a:prstGeom>
          <a:solidFill>
            <a:srgbClr val="3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56232"/>
            <a:ext cx="457200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32DCDC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13432"/>
            <a:ext cx="4553712" cy="253288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500" b="0">
                <a:solidFill>
                  <a:srgbClr val="F4F7FC"/>
                </a:solidFill>
                <a:latin typeface="Aptos"/>
              </a:defRPr>
            </a:pPr>
            <a:r>
              <a:t>Architecture: optimized gradient-boosted trees with regularization.</a:t>
            </a:r>
            <a:br/>
            <a:br/>
            <a:r>
              <a:t>Parameters to document: estimators, learning rate, maximum depth, subsampling and regularization settings.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defRPr sz="1400" b="1">
                <a:solidFill>
                  <a:srgbClr val="FFAB4A"/>
                </a:solidFill>
                <a:latin typeface="Aptos"/>
              </a:defRPr>
            </a:pPr>
            <a:r>
              <a:t>Exact parameter values must come from the implemented experiment; they are not specified in the supplied abstract.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